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Sustainability Dashboard</a:t>
            </a:r>
          </a:p>
          <a:p>
            <a:pPr>
              <a:defRPr sz="2400">
                <a:solidFill>
                  <a:srgbClr val="C8E6C9"/>
                </a:solidFill>
              </a:defRPr>
            </a:pPr>
            <a:r>
              <a:t>Dokumentasi Alur Data &amp; Rumus Bisnis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1148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5D6A7"/>
                </a:solidFill>
              </a:defRPr>
            </a:pPr>
            <a:r>
              <a:t>Mill Onboarding · Supplier Due Diligence · Modul Terkait</a:t>
            </a:r>
          </a:p>
          <a:p>
            <a:pPr>
              <a:defRPr sz="1200">
                <a:solidFill>
                  <a:srgbClr val="81C784"/>
                </a:solidFill>
              </a:defRPr>
            </a:pPr>
            <a:r>
              <a:t>Sumber: codebase valid (main.js, GoogleAppsScript-backend-v3-full.gs)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Arsitektur Sistem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Frontend → API Proxy → Google Apps Script → Google Sheets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Frontend: Vite SPA (src/main.js + modul panel)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API: /api/gas-proxy → doGet / doPost di Google Apps Script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Database: Google Sheets (bukan SQL) — setiap modul = 1+ tab sheet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Prinsip kunci: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Skor/risk mill dihitung di Google Sheet (formula), bukan di web app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Web app TIDAK menulis ulang kolom formula saat save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Backend canonical: scripts/GoogleAppsScript-backend-v3-full.gs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Arsitektur — Diagram Alur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Semua panel berbagi apiGet / apiPost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828800" cy="822960"/>
          </a:xfrm>
          <a:prstGeom prst="roundRect">
            <a:avLst/>
          </a:prstGeom>
          <a:solidFill>
            <a:srgbClr val="E8F5E9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Supplier</a:t>
            </a:r>
            <a:br/>
            <a:r>
              <a:t>Due Diligence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1463040"/>
            <a:ext cx="1828800" cy="822960"/>
          </a:xfrm>
          <a:prstGeom prst="roundRect">
            <a:avLst/>
          </a:prstGeom>
          <a:solidFill>
            <a:srgbClr val="E8F5E9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Mill</a:t>
            </a:r>
            <a:br/>
            <a:r>
              <a:t>Onboarding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463040"/>
            <a:ext cx="1828800" cy="822960"/>
          </a:xfrm>
          <a:prstGeom prst="roundRect">
            <a:avLst/>
          </a:prstGeom>
          <a:solidFill>
            <a:srgbClr val="E8F5E9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Monitoring</a:t>
            </a:r>
            <a:br/>
            <a:r>
              <a:t>TTM/TTP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463040"/>
            <a:ext cx="1828800" cy="822960"/>
          </a:xfrm>
          <a:prstGeom prst="roundRect">
            <a:avLst/>
          </a:prstGeom>
          <a:solidFill>
            <a:srgbClr val="E8F5E9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EUDR</a:t>
            </a:r>
            <a:br/>
            <a:r>
              <a:t>Potential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1463040"/>
            <a:ext cx="1828800" cy="822960"/>
          </a:xfrm>
          <a:prstGeom prst="roundRect">
            <a:avLst/>
          </a:prstGeom>
          <a:solidFill>
            <a:srgbClr val="E8F5E9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212121"/>
                </a:solidFill>
              </a:defRPr>
            </a:pPr>
            <a:r>
              <a:t>Monthly</a:t>
            </a:r>
            <a:br/>
            <a:r>
              <a:t>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743200"/>
            <a:ext cx="3657600" cy="640080"/>
          </a:xfrm>
          <a:prstGeom prst="roundRect">
            <a:avLst/>
          </a:prstGeom>
          <a:solidFill>
            <a:srgbClr val="FF8F0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/api/gas-proxy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657600"/>
            <a:ext cx="4754880" cy="822960"/>
          </a:xfrm>
          <a:prstGeom prst="roundRect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Google Apps Script</a:t>
            </a:r>
            <a:br/>
            <a:r>
              <a:t>(doGet / doPost)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4754880"/>
            <a:ext cx="5852160" cy="8229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Google Sheets</a:t>
            </a:r>
            <a:br/>
            <a:r>
              <a:t>(SDD_MAIN, Mill Profile, TTP, ...)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331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8F00"/>
                </a:solidFill>
              </a:defRPr>
            </a:pPr>
            <a: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331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8F00"/>
                </a:solidFill>
              </a:defRPr>
            </a:pPr>
            <a: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31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8F00"/>
                </a:solidFill>
              </a:defRPr>
            </a:pPr>
            <a:r>
              <a:t>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331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8F00"/>
                </a:solidFill>
              </a:defRPr>
            </a:pPr>
            <a:r>
              <a:t>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23317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8F00"/>
                </a:solidFill>
              </a:defRPr>
            </a:pPr>
            <a:r>
              <a:t>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Supplier Due Diligence (SDD)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Panel: #panel-supplier-dd · Penyimpanan: SDD_MAIN, SDD_MILL_LIST, SDD_FFB_LIST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Entry point: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Upload Excel (Main Form + Traceability A/B)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Screening form manual (SCR fields, GRV, PRI)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Approve / Hold / Reject oleh approver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NBL Check vs sheet NBL &amp; Unilever NBL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Primary key: submission_id (format SUB-YYYYMMDD-XXXXXX)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Supplier type: MILL · KCP · TRADER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Legacy: sheet SDD Data (flat) masih didukung via adapter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SDD — State Machine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Lifecycle screening dari import hingga onboarding selesai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Import Excel → Save Draft (SCR Status = Draft)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Submit → SCR Status = Submitted (form terkunci, decision enabled)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Boss Decision:</a:t>
            </a:r>
          </a:p>
          <a:p>
            <a:pPr lvl="2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Approve → statusSDD = APPROVED</a:t>
            </a:r>
          </a:p>
          <a:p>
            <a:pPr lvl="2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On Hold → statusSDD = ON HOLD</a:t>
            </a:r>
          </a:p>
          <a:p>
            <a:pPr lvl="2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Reject → statusSDD = REJECTED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Jika APPROVED + Submitted → muncul di Mill Onboarding Task List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User klik '+ Add to Mill' → data masuk Mill Onboarding Profile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Setelah semua TML line selesai → mill_added = true (hilang dari Task List)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TTP sync terjadi SETELAH Mill disimpan (bukan saat approve SDD saja)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SDD → Kemana Data Mengalir?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Trigger, target, dan fungsi backend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004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Target Modul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Fungsi / Mekanisme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statusSDD = APPROVED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Contact List 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syncContactFromApprovedSubmission_()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APPROVED + Submitted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Task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isApprovedSubmittedSddRow_() filter UI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Save Mill dari Task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Onboarding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add / update sheet mill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mill_ttp_sync 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Monitoring TTP/TTM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syncTtpFromMillOnboarding_*()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NBL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Kolom SCR - No Buy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runSddNblCheck() vs NBL sheets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Monthly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Section 01 SDD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fetchSddList() / apiListSubmissions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Export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SDD Screening 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sddExportPdf()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Mapping Field: SDD → Mill Onboarding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mapSddRowToMillPayload() / mapSddTmlRowToMillPayload()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4671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Kolom Mill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Sumber SDD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GROUP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Group Name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COMPANY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Company Name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Name / KCP Name / TML - Mill Name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COORDINATES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Latitude + Longitude (comma-separated)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CAPACITY (TON/HOUR)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Capacity (Ton/Hour)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Category / KCP Category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Address / KCP Address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MONTH,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Periode SDD (resolveSddPeriodFromMainRow_)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SOURCE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/ KCP / TRADER (millSourceTypeForOnboarding_)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TRADER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Nama trader parent (jika applicable)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UML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TML - UML ID (untuk TML lines)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Mapping: SDD FFB → Monitoring TTP/TTM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1 baris TTP = 1 pemasok FFB (Traceability B) + konteks Main Form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35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52043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Kolom TTP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Sumber SDD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GROUP / COMPANY / MILL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Onboarding identity (setelah Task List save)</a:t>
                      </a:r>
                    </a:p>
                  </a:txBody>
                  <a:tcPr/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SUPPLIER GROUP/NAME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- Supplier Group/Name</a:t>
                      </a:r>
                    </a:p>
                  </a:txBody>
                  <a:tcPr/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- Supplier Category</a:t>
                      </a:r>
                    </a:p>
                  </a:txBody>
                  <a:tcPr/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LAT, 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- Latitude/Longitude</a:t>
                      </a:r>
                    </a:p>
                  </a:txBody>
                  <a:tcPr/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VILLAGE, SUBDISTRICT, DISTRICT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location fields</a:t>
                      </a:r>
                    </a:p>
                  </a:txBody>
                  <a:tcPr/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CONCESION / PLANTED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- Concession/Planted Area (Ha)</a:t>
                      </a:r>
                    </a:p>
                  </a:txBody>
                  <a:tcPr/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LEGALITAS, ISPO/RSPO/ISCC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certification fields</a:t>
                      </a:r>
                    </a:p>
                  </a:txBody>
                  <a:tcPr/>
                </a:tc>
              </a:tr>
              <a:tr h="352043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SUPPLY to MILL (TON)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FFB - Total Supply FFB (Ton)</a:t>
                      </a:r>
                    </a:p>
                  </a:txBody>
                  <a:tcPr/>
                </a:tc>
              </a:tr>
              <a:tr h="3520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submission_id, ffb_line_id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Metadata sync (upsert identifier)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Mill Onboarding — Entry Point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Sheet: Mill Onboarding Profile (CPO/PK) · Mill Onboarding Waste (POME/SHELL)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3 cara data masuk: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Manual Add/Edit — modal #btn-add-mill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SDD Task List — '+ Add to Mill' dari approved screening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Supply Excel Import — upload → draft → submit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Supply routing:</a:t>
            </a:r>
          </a:p>
          <a:p>
            <a:pPr lvl="2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CPO/PK → sheet mill</a:t>
            </a:r>
          </a:p>
          <a:p>
            <a:pPr lvl="2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POME (ISCC/INS) / SHELL → sheet millWaste</a:t>
            </a:r>
          </a:p>
          <a:p>
            <a:pPr lvl="2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KCP plant → FACILITY NAME PK</a:t>
            </a:r>
          </a:p>
          <a:p>
            <a:pPr lvl="2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Refinery plant → FACILITY NAME CPO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Staging supply: Supply Import Draft (sheet supplyDraft)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Mill Onboarding → Kemana Data Mengalir?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Consumer modules dan join key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6004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Consumer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Join Key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Data yang Dipakai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Monitoring TTP/TTM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GROUP|COMPANY|MILL|UML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Identity + FFB sync dari SDD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Monthly Report §02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Period + RESULT RISK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High-risk MILL-only rows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Performa Facility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FACILITY NAME CPO/PK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Supply qty, traceability %, ISPO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Questionnaire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group|company|mill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Registry mill list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 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group|company|mill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Identity sync (STATUS manual)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Executive 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Quarter aggregation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Supply, risk, NBL, cert stats</a:t>
                      </a:r>
                    </a:p>
                  </a:txBody>
                  <a:tcPr/>
                </a:tc>
              </a:tr>
              <a:tr h="360045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Risk Reason UI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Per-row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RESULT RISK LEVEL + field gaps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Supply Task List — Alur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Embedded di Mill Onboarding panel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Excel upload → parse (PLANT, CATEGORY, COMPANY, MILL, QTY SUPPLY)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Match ke profil mill: supplyFindMillProfileMatch_()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matched — profil ditemukan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new — profil baru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group_mismatch — perlu review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Save Draft → sheet Supply Import Draft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Submit → submitSupplyDraft_ → append row ke Mill/Waste sheet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Formula columns di-restore dari baris di atas (tidak di-overwrite)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Repair: reconcileSupplyDraft_() perbaiki drift status draft vs mill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Rumus di Google Sheet (Read-Only dari Web)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Kolom MILL_FORMULA_HEADERS_ — tidak pernah ditulis dari web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Skor: SCORE, DEFORESTATION/BURN/PEAT SCORE, TOTAL SCORE SPATIAL, TOTAL SCORE, LEGALITY SCORE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Agregat: TOTAL GRIEVANCES, TOTAL POLICY, TOTAL CERTIFICATION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Risk: RISK LEVEL, RESULT RISK LEVEL, BUYER NO BUY LIST, PRIORITY ENGAGEMENT, SUPPLIER STATUS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Supply %: PERCENTAGE SUPPLY CPO/PK/ISCC/INS/SHELL, PRODUCT SUPPLY, STATUS SUPPLY CPO/PK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Waste: TOTAL POME SUPPLY, MAX SUPPLY POME/SHELL, REMAINING STOCK, TOTAL SCORE SUPPLY, TOTAL RISK LEVEL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Status: COMPLIMENT/NOT COMPLIMENT, DECLARATION MONITORING, CPO, PK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SD Monitoring: LAST SD DATE, DAY LEFT, Status, Result, Risk Number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Rumus App: Grievance Risk Score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src/grievance-risk.js — dihitung di frontend, disimpan ke sheet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Total Score = Σ 6 indikator (masing-masing skor 1–3):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Publish Grievance: Yes=2, No=1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Subject: Group Level=2, Subsidiary=1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Repeat: 2×+=3, 1×=2, Not repeated=1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Consequence: Harm=3, Action plan=2, No impact=1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Group Scale: 5+ mills=3, 2–4=2, 1 mill=1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No Response: No response 2 weeks=2, Response=1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Klasifikasi: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Total ≤ 8 → Low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Total ≤ 11 → Medium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Total &gt; 11 → High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Rumus App: TTM &amp; TTP Traceability %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src/main.js — ttpCalcTtmCoordinatePct_ / ttpAggregateTotalTraceablePct_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TTM Coordinate %: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Pool = SOURCE TYPE ∈ {MILL, TRADER, REFINERY} AND SUPPLY CPO/PK &gt; 0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Traceable = baris dengan koordinat valid (lat/lng)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% = Σ(qty traceable) / Σ(qty total) × 100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TTP Aggregate %: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Primary: Σ(Traceable Volume) / Σ(CPO/PK SUPPLY to REFINERY/KCP) × 100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Fallback: average kolom % CPO/PK TRACEABLE</a:t>
            </a:r>
          </a:p>
          <a:p>
            <a:pPr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Performa Facility (weighted):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TTM Facility = Σ(qty × ttmPct/100) / Σ(qty) × 100</a:t>
            </a:r>
          </a:p>
          <a:p>
            <a:pPr lvl="1">
              <a:spcAft>
                <a:spcPts val="600"/>
              </a:spcAft>
              <a:defRPr sz="1600">
                <a:solidFill>
                  <a:srgbClr val="212121"/>
                </a:solidFill>
              </a:defRPr>
            </a:pPr>
            <a:r>
              <a:t>ISPO Supply % = SUM(ISPO qty) / totalQty × 100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Rumus App: EUDR Potential Status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eudrComputeStatus_() — semua kriteria ENABLED harus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Semua pass → Potential · Salah satu fail → Not Potential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Kriteria (configurable via EUDR Status Formula sheet):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legality — Legality Complete / score = 1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millCategory — contains 'Integrated'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ownPlasmaFfb — FFB % per kategori TTP ≥ threshold (default 70%)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resultRiskLevel — RESULT RISK LEVEL = Low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millLocation — MILL LOC contains 'APL'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certification — ≥1 RSPO/ISPO/ISCC = Yes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grievance — count ≤ 0 · ndpePolicy — NDPE = Yes</a:t>
            </a:r>
          </a:p>
          <a:p>
            <a:pPr lvl="1"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noBuyList — not on NBL · deforestation — Ha &lt; 10 ha OR After 2020 = No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Rumus App: Mill Risk Reason Pills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src/mill-risk-reason.js — interpretasi gap field untuk UI display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No Coordinate — koordinat kosong/invalid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Legality Not Complete — LEGALITY SCORE ≠ 1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Non APL Area — MILL LOC bukan APL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No NDPE — NDPE ≠ Yes · No Certification — tidak ada cert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Deforestation — RISK REDUCTION FACTOR = 1 OR width &gt; 0 ha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High Deforestation — factor = 2 OR width &gt; 25 ha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On No Buy List — BUYER NO BUY LIST = Yes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Grievance flags — LEGALITY/ENVIRONMENT GRIEVANCE = Yes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Display: uses RESULT RISK LEVEL; LOW mills tidak tampilkan reason pills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Peta Modul &amp; Koneksi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Alur dependensi antar modul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37160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SDD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37160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Mill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37160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37160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EUDR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37160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Monthly Report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92608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Contact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292608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Performa Facility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292608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Questionnaire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92608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Grievance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0" y="2926080"/>
            <a:ext cx="2011680" cy="594360"/>
          </a:xfrm>
          <a:prstGeom prst="roundRect">
            <a:avLst/>
          </a:prstGeom>
          <a:solidFill>
            <a:srgbClr val="2E7D32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NBL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12121"/>
                </a:solidFill>
              </a:defRPr>
            </a:pPr>
            <a:r>
              <a:t>→ SDD (APPROVED) → Contact List · SDD → Mill Task List → Mill Profile → TTP sync</a:t>
            </a:r>
          </a:p>
          <a:p>
            <a:pPr>
              <a:defRPr sz="1300">
                <a:solidFill>
                  <a:srgbClr val="212121"/>
                </a:solidFill>
              </a:defRPr>
            </a:pPr>
            <a:r>
              <a:t>→ Supply Excel → Mill Profile · Mill → EUDR Potential · TTP FFB → EUDR FFB %</a:t>
            </a:r>
          </a:p>
          <a:p>
            <a:pPr>
              <a:defRPr sz="1300">
                <a:solidFill>
                  <a:srgbClr val="212121"/>
                </a:solidFill>
              </a:defRPr>
            </a:pPr>
            <a:r>
              <a:t>→ Mill + TTP + Grievance + NBL + EUDR → Monthly Report</a:t>
            </a:r>
          </a:p>
          <a:p>
            <a:pPr>
              <a:defRPr sz="1300">
                <a:solidFill>
                  <a:srgbClr val="212121"/>
                </a:solidFill>
              </a:defRPr>
            </a:pPr>
            <a:r>
              <a:t>→ Mill + TTP + Supplied CPO/PK → Performa Facility</a:t>
            </a:r>
          </a:p>
          <a:p>
            <a:pPr>
              <a:defRPr sz="1300">
                <a:solidFill>
                  <a:srgbClr val="212121"/>
                </a:solidFill>
              </a:defRPr>
            </a:pPr>
            <a:r>
              <a:t>→ NBL → SDD screening check + Mill BUYER NO BUY LIST (sheet formula)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Daftar Google Sheets (Database)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Semua tab sheet yang digunakan sistem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4671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Tab Name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Modul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Onboarding Profile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Onboarding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millWaste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Onboarding Waste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Mill Onboarding Waste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supplyDraft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Supply Import Draft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Supply Task List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sddMain / sddMill / sddFfb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SDD_MAIN / MILL_LIST / FFB_LIST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Supplier Due Diligence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Monitoring TTP/TTM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TTM/TTP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grievance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Grievance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Grievance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nbl / unileverNbl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NBL / Unilever NBL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 Buy List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 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 Potential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eudrDds (+ child)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 DDS + Suppliers/Geo/Docs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 DDS (export EU)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contactSupplier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Contact List Supplier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Contact List</a:t>
                      </a:r>
                    </a:p>
                  </a:txBody>
                  <a:tcPr/>
                </a:tc>
              </a:tr>
              <a:tr h="3467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questionnaireMonitoring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Questionnaire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Questionnaire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Perbedaan: SDD vs EUDR DDS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Dua modul 'due diligence' yang terpisah — tidak ada coupling langsung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112471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73379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Aspek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Supplier Due Diligence (SDD)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EUDR Due Diligence Statement (DDS)</a:t>
                      </a:r>
                    </a:p>
                  </a:txBody>
                  <a:tcPr>
                    <a:solidFill>
                      <a:srgbClr val="2E7D32"/>
                    </a:solidFill>
                  </a:tcPr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#panel-supplier-dd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#panel-due-diligence-statement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SDD_MAIN / MILL_LIST / FFB_LIST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EUDR DDS + child sheets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Tujuan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Screening supplier internal +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Paket data export EU EUDR</a:t>
                      </a:r>
                    </a:p>
                  </a:txBody>
                  <a:tcPr/>
                </a:tc>
              </a:tr>
              <a:tr h="37337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Output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Task List → Mill → TTP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DOCX/PDF export untuk buyer</a:t>
                      </a:r>
                    </a:p>
                  </a:txBody>
                  <a:tcPr/>
                </a:tc>
              </a:tr>
              <a:tr h="37338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src/main.js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src/dds-ui.js, dds-export-model.js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Aturan Validasi &amp; Guard Rules</a:t>
            </a:r>
          </a:p>
          <a:p>
            <a:pPr>
              <a:defRPr sz="1400">
                <a:solidFill>
                  <a:srgbClr val="C8E6C9"/>
                </a:solidFill>
              </a:defRPr>
            </a:pPr>
            <a:r>
              <a:t>Business rules yang mencegah data inconsistency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SDD: Submitted tidak bisa downgrade ke Draft (assertSubmittedNotDowngraded_)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Task List gate: SCR Status = submitted AND statusSDD = APPROVED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TTP sync: APPROVED + submitted + identity lengkap (GROUP/COMPANY/MILL/UML)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Supply submit: match_status harus matched atau new; company wajib diisi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Mill save: kolom formula di-strip (millStripComputedFromSavePayload_)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EUDR: semua kriteria enabled harus pass untuk status Potential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Grievance: 6 indikator wajib diisi sebelum total/classification disimpan</a:t>
            </a:r>
          </a:p>
          <a:p>
            <a:pPr>
              <a:spcAft>
                <a:spcPts val="600"/>
              </a:spcAft>
              <a:defRPr sz="1400">
                <a:solidFill>
                  <a:srgbClr val="212121"/>
                </a:solidFill>
              </a:defRPr>
            </a:pPr>
            <a:r>
              <a:t>Koordinat: normalizeCoordinate() + recoverCoord() untuk locale Indonesia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 algn="ctr">
              <a:defRPr sz="1600">
                <a:solidFill>
                  <a:srgbClr val="C8E6C9"/>
                </a:solidFill>
              </a:defRPr>
            </a:pPr>
            <a:r>
              <a:t>Dokumentasi valid dari codebase · Tidak ada perubahan kode aplikasi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A5D6A7"/>
                </a:solidFill>
              </a:defRPr>
            </a:pPr>
            <a:r>
              <a:t>Referensi: docs/sdd-to-ttm-ttp-field-mapping.md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